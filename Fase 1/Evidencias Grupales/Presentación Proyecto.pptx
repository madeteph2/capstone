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2000"/>
  <p:notesSz cx="6858000" cy="9144000"/>
  <p:embeddedFontLst>
    <p:embeddedFont>
      <p:font typeface="Carlito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jhhgY/hWnzag9qVraazriqW2A/d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C59166-7833-494C-90F1-B5DE4C1D15B2}">
  <a:tblStyle styleId="{41C59166-7833-494C-90F1-B5DE4C1D15B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A83B4CC6-04C9-4473-84F8-9845BC820912}" styleName="Table_1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Carlito-bold.fntdata"/><Relationship Id="rId14" Type="http://schemas.openxmlformats.org/officeDocument/2006/relationships/font" Target="fonts/Carlito-regular.fntdata"/><Relationship Id="rId17" Type="http://schemas.openxmlformats.org/officeDocument/2006/relationships/font" Target="fonts/Carlito-boldItalic.fntdata"/><Relationship Id="rId16" Type="http://schemas.openxmlformats.org/officeDocument/2006/relationships/font" Target="fonts/Carli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3" name="Google Shape;103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5" name="Google Shape;1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7" name="Google Shape;12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7" name="Google Shape;13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f8ca8b3f54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47" name="Google Shape;147;g3f8ca8b3f54_1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9" name="Google Shape;15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674792"/>
            <a:ext cx="12192000" cy="21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b="1" i="1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Sistema de Integral Gestión para Banquetería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1" name="Google Shape;91;p2"/>
          <p:cNvGrpSpPr/>
          <p:nvPr/>
        </p:nvGrpSpPr>
        <p:grpSpPr>
          <a:xfrm>
            <a:off x="4085626" y="2001469"/>
            <a:ext cx="7633494" cy="2855050"/>
            <a:chOff x="0" y="0"/>
            <a:chExt cx="7633494" cy="2855050"/>
          </a:xfrm>
        </p:grpSpPr>
        <p:sp>
          <p:nvSpPr>
            <p:cNvPr id="92" name="Google Shape;92;p2"/>
            <p:cNvSpPr/>
            <p:nvPr/>
          </p:nvSpPr>
          <p:spPr>
            <a:xfrm>
              <a:off x="0" y="0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3" name="Google Shape;93;p2"/>
            <p:cNvSpPr txBox="1"/>
            <p:nvPr/>
          </p:nvSpPr>
          <p:spPr>
            <a:xfrm>
              <a:off x="1662653" y="0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Madelaine Escobar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135954" y="135954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0" y="1495502"/>
              <a:ext cx="7633494" cy="1359548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2D9"/>
                </a:gs>
                <a:gs pos="50000">
                  <a:srgbClr val="5197DA"/>
                </a:gs>
                <a:gs pos="100000">
                  <a:srgbClr val="4185C7"/>
                </a:gs>
              </a:gsLst>
              <a:lin ang="5400000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1495502"/>
              <a:ext cx="5970840" cy="1359548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b="0" i="0" lang="es-CL" sz="26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Sebastián Zúñiga Sepúlveda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Cargo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b="0" i="0" lang="es-CL" sz="2000" u="none" cap="none" strike="noStrike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Funciones desempeñadas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631457"/>
              <a:ext cx="1526698" cy="1087638"/>
            </a:xfrm>
            <a:prstGeom prst="roundRect">
              <a:avLst>
                <a:gd fmla="val 10000" name="adj"/>
              </a:avLst>
            </a:prstGeom>
            <a:solidFill>
              <a:srgbClr val="C1D2EA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3137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98" name="Google Shape;98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DE GESTIÓN PARA BANQUETERÍA”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99" name="Google Shape;99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00" name="Google Shape;100;p2"/>
          <p:cNvSpPr/>
          <p:nvPr/>
        </p:nvSpPr>
        <p:spPr>
          <a:xfrm>
            <a:off x="278364" y="2308185"/>
            <a:ext cx="3542700" cy="1868400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b="1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b="1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105;p3" title="17973908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06" name="Google Shape;106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3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DE GESTIÓN PARA BANQUETERÍA”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10" name="Google Shape;110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 empresa de banquetería actualmente gestiona sus operaciones de forma </a:t>
            </a: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manual y dispersa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utilizando planillas, correos y sistemas separados. Esto provoca </a:t>
            </a: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pérdida de información, errores en los pedidos, falta de control del inventario y poca visibilidad de la rentabilidad de cada evento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sng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s-CL" sz="2800" u="sng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Crear un sistema web y móvil que centralice y optimice la gestión de la banquetería, integrando pedidos, inventario, facturación y rentabilidad en una sola plataforma.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4" title="17973908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18" name="Google Shape;118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DE GESTIÓN PARA BANQUETERÍA”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1" name="Google Shape;121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22" name="Google Shape;122;p4"/>
          <p:cNvSpPr txBox="1"/>
          <p:nvPr/>
        </p:nvSpPr>
        <p:spPr>
          <a:xfrm>
            <a:off x="0" y="3177873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614525" y="2040575"/>
            <a:ext cx="10962900" cy="10197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sistema integral web y móvil para centralizar y optimizar la gestión de una empresa de banquetería, integrando clientes, pedidos, inventario, facturación y rentabilidad, con apoyo de dashboards, control por roles</a:t>
            </a: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614525" y="3941975"/>
            <a:ext cx="10962900" cy="2598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Analizar y modelar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el proceso actual de la banquetería y diseñar la arquitectura del sistema.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Desarrollar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módulos para gestionar clientes y pedidos, incorporando estados, trazabilidad y auditoría.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Implementar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fichas técnicas y un cotizador que permita calcular costos, márgenes y precios sugeridos.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Gestionar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el inventario mediante tecnología QR y registrar el consumo real de cada evento.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Desarrollar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 BackOffice con dashboard de indicadores (KPIs) y un sistema de alertas de riesgo.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Crear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una aplicación móvil para la gestión en terreno, incluyendo checklist, actualización de estados e incidencias.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Incorporar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un asistente de inteligencia artificial para realizar consultas operativas sobre pedidos, stock y rentabilidad.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Validar</a:t>
            </a:r>
            <a:r>
              <a:rPr b="0" i="0" lang="es-CL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el sistema mediante casos de prueba basados en eventos reales y documentar sus resultados.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5" title="17973908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30" name="Google Shape;13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DE GESTIÓN PARA BANQUETERÍA”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33" name="Google Shape;133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34" name="Google Shape;134;p5"/>
          <p:cNvSpPr/>
          <p:nvPr/>
        </p:nvSpPr>
        <p:spPr>
          <a:xfrm>
            <a:off x="614525" y="2291850"/>
            <a:ext cx="10962900" cy="42492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Alcances</a:t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Centralizar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la gestión de clientes, pedidos, inventario y facturación.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Incorporar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control por roles, códigos QR y dashboard de KPIs.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Gestionar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la operación en terreno mediante una aplicación móvil.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Apoyar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la toma de decisiones mediante alertas e inteligencia artificial*.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i="0" lang="es-CL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Limitaciones</a:t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El proyecto se desarrollará como un </a:t>
            </a: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MVP durante el semestre APT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 implementación dependerá de la </a:t>
            </a:r>
            <a:r>
              <a:rPr b="1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información y procesos reales proporcionados por la banquetería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 complejidad de la máquina de estados y el cálculo de costos puede limitar el alcance inicial.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6" title="17973908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40" name="Google Shape;140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DE GESTIÓN PARA BANQUETERÍA”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3" name="Google Shape;143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44" name="Google Shape;144;p6"/>
          <p:cNvSpPr/>
          <p:nvPr/>
        </p:nvSpPr>
        <p:spPr>
          <a:xfrm>
            <a:off x="1349388" y="2753600"/>
            <a:ext cx="9765600" cy="31359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s-CL" sz="2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Metodología de trabajo: Scrum</a:t>
            </a:r>
            <a:endParaRPr b="1" i="0" sz="2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●"/>
            </a:pP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 utilizará la metodología ágil Scrum, trabajando en sprints </a:t>
            </a:r>
            <a:r>
              <a:rPr lang="es-CL" sz="1800">
                <a:solidFill>
                  <a:schemeClr val="dk1"/>
                </a:solidFill>
              </a:rPr>
              <a:t>cada semana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s-CL" sz="1800">
                <a:solidFill>
                  <a:schemeClr val="dk1"/>
                </a:solidFill>
              </a:rPr>
              <a:t>Esto p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ermitirá planificar, desarrollar, probar y evaluar funcionalidades del sistema, priorizando un MVP (Producto Mínimo Viable) funcional al finalizar las 1</a:t>
            </a:r>
            <a:r>
              <a:rPr lang="es-CL" sz="1800">
                <a:solidFill>
                  <a:schemeClr val="dk1"/>
                </a:solidFill>
              </a:rPr>
              <a:t>2</a:t>
            </a:r>
            <a:r>
              <a:rPr b="0" i="0" lang="es-CL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semanas.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g3f8ca8b3f54_1_12" title="17973908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50" name="Google Shape;150;g3f8ca8b3f54_1_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g3f8ca8b3f54_1_12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DE GESTIÓN PARA BANQUETERÍA”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2" name="Google Shape;152;g3f8ca8b3f54_1_12"/>
          <p:cNvSpPr txBox="1"/>
          <p:nvPr/>
        </p:nvSpPr>
        <p:spPr>
          <a:xfrm>
            <a:off x="1" y="1155656"/>
            <a:ext cx="12192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es-CL" sz="3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s-CL" sz="16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b="0" i="0" sz="1000" u="none" cap="none" strike="noStrike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g3f8ca8b3f54_1_12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54" name="Google Shape;154;g3f8ca8b3f54_1_12"/>
          <p:cNvSpPr txBox="1"/>
          <p:nvPr/>
        </p:nvSpPr>
        <p:spPr>
          <a:xfrm>
            <a:off x="9787775" y="1888400"/>
            <a:ext cx="3000000" cy="78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f8ca8b3f54_1_12"/>
          <p:cNvSpPr/>
          <p:nvPr/>
        </p:nvSpPr>
        <p:spPr>
          <a:xfrm>
            <a:off x="952500" y="2673800"/>
            <a:ext cx="9636900" cy="36126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56" name="Google Shape;156;g3f8ca8b3f54_1_12"/>
          <p:cNvGraphicFramePr/>
          <p:nvPr/>
        </p:nvGraphicFramePr>
        <p:xfrm>
          <a:off x="952500" y="2673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{41C59166-7833-494C-90F1-B5DE4C1D15B2}</a:tableStyleId>
              </a:tblPr>
              <a:tblGrid>
                <a:gridCol w="3067200"/>
                <a:gridCol w="6569600"/>
              </a:tblGrid>
              <a:tr h="27790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Sprint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Actividad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S1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Metodología, requerimientos, backlog y GitHub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S2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Arquitectura, modelo de datos y prototipos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S3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Base técnica, autenticación, roles y API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S4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Clientes y pedidos con máquina de estados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S5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Fichas técnicas, costos y cotizador automático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S6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Inventario, movimientos y lector QR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S7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Ventas, facturación y auditoría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S8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Backoffice, dashboard y motor de reglas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S9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Aplicación móvil operativa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S10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Integración móvil, trazabilidad y pruebas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S11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Integración final, corrección de errores y estabilización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7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S12</a:t>
                      </a:r>
                      <a:endParaRPr b="1"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500">
                          <a:latin typeface="Carlito"/>
                          <a:ea typeface="Carlito"/>
                          <a:cs typeface="Carlito"/>
                          <a:sym typeface="Carlito"/>
                        </a:rPr>
                        <a:t>Pruebas finales, despliegue, documentación y demo</a:t>
                      </a:r>
                      <a:endParaRPr sz="1500">
                        <a:latin typeface="Carlito"/>
                        <a:ea typeface="Carlito"/>
                        <a:cs typeface="Carlito"/>
                        <a:sym typeface="Carlito"/>
                      </a:endParaRPr>
                    </a:p>
                  </a:txBody>
                  <a:tcPr marT="0" marB="0" marR="44450" marL="44450" anchor="ctr">
                    <a:lnL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635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8" title="17973908.jp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7999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EscuelaIT Duoc UC - Escuela de Informática y Telecomunicaciones Duoc UC - Duoc  UC | LinkedIn" id="162" name="Google Shape;16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“SISTEMA DE GESTIÓN PARA BANQUETERÍA”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8"/>
          <p:cNvSpPr txBox="1"/>
          <p:nvPr/>
        </p:nvSpPr>
        <p:spPr>
          <a:xfrm>
            <a:off x="0" y="1432655"/>
            <a:ext cx="121920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Hitos académicos principales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5" name="Google Shape;165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166" name="Google Shape;166;p8"/>
          <p:cNvSpPr/>
          <p:nvPr/>
        </p:nvSpPr>
        <p:spPr>
          <a:xfrm>
            <a:off x="1184950" y="2663500"/>
            <a:ext cx="9182100" cy="28308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67" name="Google Shape;167;p8"/>
          <p:cNvGraphicFramePr/>
          <p:nvPr/>
        </p:nvGraphicFramePr>
        <p:xfrm>
          <a:off x="1180050" y="26586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{A83B4CC6-04C9-4473-84F8-9845BC820912}</a:tableStyleId>
              </a:tblPr>
              <a:tblGrid>
                <a:gridCol w="742950"/>
                <a:gridCol w="2276475"/>
                <a:gridCol w="6162675"/>
              </a:tblGrid>
              <a:tr h="228600">
                <a:tc gridSpan="3"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>
                          <a:solidFill>
                            <a:srgbClr val="1F1F1F"/>
                          </a:solidFill>
                        </a:rPr>
                        <a:t>Hitos académicos principales</a:t>
                      </a:r>
                      <a:endParaRPr b="1">
                        <a:solidFill>
                          <a:srgbClr val="1F1F1F"/>
                        </a:solidFill>
                      </a:endParaRPr>
                    </a:p>
                  </a:txBody>
                  <a:tcPr marT="91425" marB="91425" marR="28575" marL="28575" anchor="ctr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9EAF7"/>
                    </a:solidFill>
                  </a:tcPr>
                </a:tc>
                <a:tc hMerge="1"/>
                <a:tc hMerge="1"/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08/09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Formativa individual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Plan + Gantt + metodología + roles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22/09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Hito 1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Primer incremento funcional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27/10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Sumativa grupal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MVP web integrado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17/11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Hito 2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Sistema web + móvil integrado, dashboard, reglas, QR y flujo punta a punta probado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24/11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Portafolio final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/>
                        <a:t>Sistema final + documentación + despliegue</a:t>
                      </a:r>
                      <a:endParaRPr/>
                    </a:p>
                  </a:txBody>
                  <a:tcPr marT="91425" marB="91425" marR="28575" marL="28575" anchor="b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